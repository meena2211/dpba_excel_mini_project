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f0c72326da8e308/Videos/salary_analysis_dashboard_MEENA%20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S.xlsx]Q2!PivotTable5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AVERAGE SALARY BY DEPARTMENT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'Q2'!$B$3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'Q2'!$A$4:$A$8</c:f>
              <c:strCache>
                <c:ptCount val="4"/>
                <c:pt idx="0">
                  <c:v>Engineering</c:v>
                </c:pt>
                <c:pt idx="1">
                  <c:v>HR</c:v>
                </c:pt>
                <c:pt idx="2">
                  <c:v>Marketing</c:v>
                </c:pt>
                <c:pt idx="3">
                  <c:v>Operations</c:v>
                </c:pt>
              </c:strCache>
            </c:strRef>
          </c:cat>
          <c:val>
            <c:numRef>
              <c:f>'Q2'!$B$4:$B$8</c:f>
              <c:numCache>
                <c:formatCode>General</c:formatCode>
                <c:ptCount val="4"/>
                <c:pt idx="0">
                  <c:v>1716000</c:v>
                </c:pt>
                <c:pt idx="1">
                  <c:v>1284000</c:v>
                </c:pt>
                <c:pt idx="2">
                  <c:v>1404000</c:v>
                </c:pt>
                <c:pt idx="3">
                  <c:v>984000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CA-4514-8483-6F636B3AA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00993327"/>
        <c:axId val="1765384687"/>
      </c:barChart>
      <c:catAx>
        <c:axId val="80099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384687"/>
        <c:crosses val="autoZero"/>
        <c:auto val="1"/>
        <c:lblAlgn val="ctr"/>
        <c:lblOffset val="100"/>
        <c:noMultiLvlLbl val="0"/>
      </c:catAx>
      <c:valAx>
        <c:axId val="1765384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9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S.xlsx]Q3!PivotTable6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SALARY BY JOB LEVEL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43416666666666665"/>
          <c:y val="0.114720034995625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'Q3'!$B$3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'Q3'!$A$4:$A$5</c:f>
              <c:strCache>
                <c:ptCount val="1"/>
                <c:pt idx="0">
                  <c:v>Lead</c:v>
                </c:pt>
              </c:strCache>
            </c:strRef>
          </c:cat>
          <c:val>
            <c:numRef>
              <c:f>'Q3'!$B$4:$B$5</c:f>
              <c:numCache>
                <c:formatCode>General</c:formatCode>
                <c:ptCount val="1"/>
                <c:pt idx="0">
                  <c:v>1418000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30-45FA-BB21-894E80F63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1003535"/>
        <c:axId val="1765345327"/>
      </c:barChart>
      <c:catAx>
        <c:axId val="801003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345327"/>
        <c:crosses val="autoZero"/>
        <c:auto val="1"/>
        <c:lblAlgn val="ctr"/>
        <c:lblOffset val="100"/>
        <c:noMultiLvlLbl val="0"/>
      </c:catAx>
      <c:valAx>
        <c:axId val="1765345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1003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S.xlsx]Q4!PivotTable7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EXPERIENCE VS SALARY 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'Q4'!$B$3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'Q4'!$A$4:$A$6</c:f>
              <c:strCache>
                <c:ptCount val="2"/>
                <c:pt idx="0">
                  <c:v>Group 1 to 10</c:v>
                </c:pt>
                <c:pt idx="1">
                  <c:v>Group 10 to 20</c:v>
                </c:pt>
              </c:strCache>
            </c:strRef>
          </c:cat>
          <c:val>
            <c:numRef>
              <c:f>'Q4'!$B$4:$B$6</c:f>
              <c:numCache>
                <c:formatCode>General</c:formatCode>
                <c:ptCount val="2"/>
                <c:pt idx="0">
                  <c:v>1341000</c:v>
                </c:pt>
                <c:pt idx="1">
                  <c:v>1224000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48-44DD-B2B5-1E9994463F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1517375"/>
        <c:axId val="275262127"/>
      </c:barChart>
      <c:catAx>
        <c:axId val="271517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262127"/>
        <c:crosses val="autoZero"/>
        <c:auto val="1"/>
        <c:lblAlgn val="ctr"/>
        <c:lblOffset val="100"/>
        <c:noMultiLvlLbl val="0"/>
      </c:catAx>
      <c:valAx>
        <c:axId val="275262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1517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S.xlsx]Q5!PivotTable8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SALARY</a:t>
            </a:r>
            <a:r>
              <a:rPr lang="en-US" baseline="0"/>
              <a:t> BY LOCATION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'Q5'!$B$3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'Q5'!$A$4:$A$5</c:f>
              <c:strCache>
                <c:ptCount val="1"/>
                <c:pt idx="0">
                  <c:v>Delhi</c:v>
                </c:pt>
              </c:strCache>
            </c:strRef>
          </c:cat>
          <c:val>
            <c:numRef>
              <c:f>'Q5'!$B$4:$B$5</c:f>
              <c:numCache>
                <c:formatCode>General</c:formatCode>
                <c:ptCount val="1"/>
                <c:pt idx="0">
                  <c:v>1418000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5-4D01-AE12-1CE76A99F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4917135"/>
        <c:axId val="1553816719"/>
      </c:barChart>
      <c:catAx>
        <c:axId val="194491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816719"/>
        <c:crosses val="autoZero"/>
        <c:auto val="1"/>
        <c:lblAlgn val="ctr"/>
        <c:lblOffset val="100"/>
        <c:noMultiLvlLbl val="0"/>
      </c:catAx>
      <c:valAx>
        <c:axId val="1553816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917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S.xlsx]Q6!PivotTable9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SALARY</a:t>
            </a:r>
            <a:r>
              <a:rPr lang="en-US" baseline="0"/>
              <a:t> BY EDUCATION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'Q6'!$B$3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'Q6'!$A$4:$A$7</c:f>
              <c:strCache>
                <c:ptCount val="3"/>
                <c:pt idx="0">
                  <c:v>Bachelor's</c:v>
                </c:pt>
                <c:pt idx="1">
                  <c:v>Diploma</c:v>
                </c:pt>
                <c:pt idx="2">
                  <c:v>Master's</c:v>
                </c:pt>
              </c:strCache>
            </c:strRef>
          </c:cat>
          <c:val>
            <c:numRef>
              <c:f>'Q6'!$B$4:$B$7</c:f>
              <c:numCache>
                <c:formatCode>General</c:formatCode>
                <c:ptCount val="3"/>
                <c:pt idx="0">
                  <c:v>1506000</c:v>
                </c:pt>
                <c:pt idx="1">
                  <c:v>1314000</c:v>
                </c:pt>
                <c:pt idx="2">
                  <c:v>1434000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72-47F7-B195-B01EE0C4D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6294991"/>
        <c:axId val="1759317967"/>
      </c:barChart>
      <c:catAx>
        <c:axId val="806294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9317967"/>
        <c:crosses val="autoZero"/>
        <c:auto val="1"/>
        <c:lblAlgn val="ctr"/>
        <c:lblOffset val="100"/>
        <c:noMultiLvlLbl val="0"/>
      </c:catAx>
      <c:valAx>
        <c:axId val="1759317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6294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[salary_analysis_dashboard_MEENA S.xlsx]Q7!PivotTable10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SALARY</a:t>
            </a:r>
            <a:r>
              <a:rPr lang="en-US" baseline="0"/>
              <a:t> BY EMPLOYMENT TYPE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'Q7'!$B$3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'Q7'!$A$4:$A$5</c:f>
              <c:strCache>
                <c:ptCount val="1"/>
                <c:pt idx="0">
                  <c:v>Full-time</c:v>
                </c:pt>
              </c:strCache>
            </c:strRef>
          </c:cat>
          <c:val>
            <c:numRef>
              <c:f>'Q7'!$B$4:$B$5</c:f>
              <c:numCache>
                <c:formatCode>General</c:formatCode>
                <c:ptCount val="1"/>
                <c:pt idx="0">
                  <c:v>1418000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B-4C82-AFE1-B7B18AD68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1248399"/>
        <c:axId val="1553738479"/>
      </c:barChart>
      <c:catAx>
        <c:axId val="188124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738479"/>
        <c:crosses val="autoZero"/>
        <c:auto val="1"/>
        <c:lblAlgn val="ctr"/>
        <c:lblOffset val="100"/>
        <c:noMultiLvlLbl val="0"/>
      </c:catAx>
      <c:valAx>
        <c:axId val="155373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248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3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6108" y="1463040"/>
            <a:ext cx="6460743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/>
              <a:t>SALARY ANALYSIS DASHBOARD</a:t>
            </a:r>
          </a:p>
          <a:p>
            <a:pPr algn="ctr">
              <a:defRPr sz="2100">
                <a:solidFill>
                  <a:srgbClr val="FFFFFF"/>
                </a:solidFill>
              </a:defRPr>
            </a:pPr>
            <a:r>
              <a:rPr dirty="0"/>
              <a:t>Salary Analysis using 3,000 Employee Records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rPr dirty="0"/>
              <a:t>Pivot Tables • KPIs • Charts • Filters &amp; Slicers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7900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9992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Salary analysis helps organizations understand compensation patterns across employees.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This project analyzes salary, bonus, experience, department, job level, education, location and employment type.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dashboard converts 3,000 employee records into KPIs and visual insights for easier decision-making.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analysis is designed for HR planning, salary benchmarking and workforce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97966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Organizations need a clear view of how employee compensation changes across roles, experience and business functions.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Raw salary data is difficult to interpret without aggregation and visualization.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objective is to identify salary differences, compensation patterns and high-value employee segments.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A dashboard provides a single view for comparing departments, job levels, education, locations and employment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219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Rows collected before preprocessing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3,000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Rows after preprocessing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3,000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59" y="137160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Columns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Missing values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Duplicate Employee IDs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3291840"/>
            <a:ext cx="324612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372"/>
                </a:solidFill>
              </a:defRPr>
            </a:pPr>
            <a:r>
              <a:t>Main measure</a:t>
            </a:r>
          </a:p>
          <a:p>
            <a:pPr algn="ctr">
              <a:defRPr sz="2300" b="1">
                <a:solidFill>
                  <a:srgbClr val="232D37"/>
                </a:solidFill>
              </a:defRPr>
            </a:pPr>
            <a:r>
              <a:t>Annual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484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Row &amp; 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Total records analyzed: 3,000.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Each row represents one employee record.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15 fields cover identity, demographics, job information, salary, bonus and total compensation.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No records were removed during preprocessing because the provided dataset already had complete employee IDs and no missing values.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The cleaned dataset was validated for numeric salary fields and derived compensation calculations.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57176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Data Preprocessing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1. Checked missing values → 0 missing cells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2. Checked duplicate Employee_ID values → 0 duplicates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3. Standardized text/category fields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4. Converted numeric salary and experience fields to numeric types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5. Validated salary, experience and bonus ranges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6. Recalculated Annual Salary, Annual Bonus and Total Compensation for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10339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Core KPIs used in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Total Employees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3,000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3444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Average Annual Salary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₹926,528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Median Annual Salary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₹900,000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Minimum Salary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₹216,000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Maximum Salary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₹2,220,000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56616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Average Total Compensation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₹83,349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56616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Average Experience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6.61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5146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4372"/>
                </a:solidFill>
              </a:defRPr>
            </a:pPr>
            <a:r>
              <a:t>Average Bonus</a:t>
            </a:r>
          </a:p>
          <a:p>
            <a:pPr algn="ctr">
              <a:defRPr sz="1900" b="1">
                <a:solidFill>
                  <a:srgbClr val="232D37"/>
                </a:solidFill>
              </a:defRPr>
            </a:pPr>
            <a:r>
              <a:t>₹6,139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7468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Which department has the highest average annual salary?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Engineering has the highest average annual salary at about ₹1,153,467, followed by IT at about ₹1,076,490.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C7313C5-172E-74EB-DA65-C551BBE5E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1098413"/>
              </p:ext>
            </p:extLst>
          </p:nvPr>
        </p:nvGraphicFramePr>
        <p:xfrm>
          <a:off x="1902542" y="16247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543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How does salary vary across different job levels?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Average salary rises consistently with seniority. Lead employees average about ₹1,340,488, while Entry employees average about ₹731,046.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25FB6EA-E96E-B386-275B-82422564D5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177023"/>
              </p:ext>
            </p:extLst>
          </p:nvPr>
        </p:nvGraphicFramePr>
        <p:xfrm>
          <a:off x="2305665" y="16444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7468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How does years of experience affect annual salary?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Salary increases strongly with experience: the 0–2 year group averages about ₹729,607, while 21+ years averages about ₹1,411,364.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7E559CF-CDD8-20EE-C8B2-CADAD90AA0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264832"/>
              </p:ext>
            </p:extLst>
          </p:nvPr>
        </p:nvGraphicFramePr>
        <p:xfrm>
          <a:off x="2168013" y="17624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543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Which location has the highest average employee salary?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Mumbai has the highest average salary at about ₹1,019,934; Salem is the lowest among the listed locations at about ₹816,253.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9B3F9FF-037F-2266-37E3-31BC67ADD6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5666829"/>
              </p:ext>
            </p:extLst>
          </p:nvPr>
        </p:nvGraphicFramePr>
        <p:xfrm>
          <a:off x="2227007" y="18653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543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How does education level relate to average salary?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Employees with a PhD have the highest average salary at about ₹1,096,509, followed by Master's degree holders.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12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792F05E-F3BB-9C8B-7E80-3D8486155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134522"/>
              </p:ext>
            </p:extLst>
          </p:nvPr>
        </p:nvGraphicFramePr>
        <p:xfrm>
          <a:off x="2227007" y="18653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7468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How does salary differ by employment type?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7320"/>
            <a:ext cx="3154680" cy="402336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44372"/>
                </a:solidFill>
              </a:defRPr>
            </a:pPr>
            <a:r>
              <a:t>Key Insight</a:t>
            </a:r>
          </a:p>
          <a:p>
            <a:pPr>
              <a:spcAft>
                <a:spcPts val="1400"/>
              </a:spcAft>
              <a:defRPr sz="1500">
                <a:solidFill>
                  <a:srgbClr val="232D37"/>
                </a:solidFill>
              </a:defRPr>
            </a:pPr>
            <a:r>
              <a:t>Full-time employees have the highest average salary at about ₹950,580; part-time employees have the lowest average among the three types.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Use: Pivot Table → Average →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13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9CDFB7E-3B8D-2638-A318-986FF2EE99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153764"/>
              </p:ext>
            </p:extLst>
          </p:nvPr>
        </p:nvGraphicFramePr>
        <p:xfrm>
          <a:off x="2227006" y="179192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5A29B-3CBC-BA6F-BF26-C28D6CFF77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6" b="318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9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54441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Five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Engineering is the highest-paid department on average (≈ ₹1,153,467).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Lead-level employees have the highest average salary (≈ ₹1,340,488).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Average salary increases steadily with experience, reaching ≈ ₹1,411,364 for 21+ years.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Mumbai has the highest average location salary (≈ ₹1,019,934).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PhD holders have the highest average salary among education groups (≈ ₹1,096,509).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37129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Slicers &amp; Filters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Department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Job Level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Location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Education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Employment Type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74720"/>
            <a:ext cx="30175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144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4372"/>
                </a:solidFill>
              </a:defRPr>
            </a:pPr>
            <a:r>
              <a:t>SLICER: Gender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Use to filter dashboard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t>Recommended dashboard filters: Department, Job Level, Location and Employment Type.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t>Use slicers to compare salary patterns for selected employee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2774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372"/>
                </a:solidFill>
              </a:defRPr>
            </a:pPr>
            <a:r>
              <a:rPr dirty="0"/>
              <a:t>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salary dataset contains 3,000 employee records with 15 analytical fields.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cleaned data supports reliable KPI calculations and comparative visual analysis.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Salary is strongly associated with job level and years of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Department, location, education and employment type also show meaningful salary differences.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final dashboard makes the analysis easier to monitor using KPIs, charts, filters and slicers.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862</Words>
  <Application>Microsoft Office PowerPoint</Application>
  <PresentationFormat>Widescreen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Itz Meenu</dc:creator>
  <cp:keywords/>
  <dc:description>generated using python-pptx</dc:description>
  <cp:lastModifiedBy>Meenu S</cp:lastModifiedBy>
  <cp:revision>2</cp:revision>
  <dcterms:created xsi:type="dcterms:W3CDTF">2013-01-27T09:14:16Z</dcterms:created>
  <dcterms:modified xsi:type="dcterms:W3CDTF">2026-10-05T08:12:16Z</dcterms:modified>
  <cp:category/>
</cp:coreProperties>
</file>